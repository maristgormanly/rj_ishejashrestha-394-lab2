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TT Octosquares Condensed" panose="020B0604020202020204" charset="0"/>
      <p:regular r:id="rId17"/>
    </p:embeddedFont>
    <p:embeddedFont>
      <p:font typeface="Bauer Bodoni Condensed Bold" panose="020B0604020202020204" charset="0"/>
      <p:regular r:id="rId18"/>
    </p:embeddedFont>
    <p:embeddedFont>
      <p:font typeface="TT Supermolot Neue" panose="020B0604020202020204" charset="0"/>
      <p:regular r:id="rId19"/>
    </p:embeddedFont>
    <p:embeddedFont>
      <p:font typeface="Bauer Bodoni Bold" panose="020B0604020202020204" charset="0"/>
      <p:regular r:id="rId20"/>
    </p:embeddedFont>
    <p:embeddedFont>
      <p:font typeface="TT Supermolot Neue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8.pn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0.pn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anded-41df2.web.app" TargetMode="External"/><Relationship Id="rId5" Type="http://schemas.openxmlformats.org/officeDocument/2006/relationships/image" Target="../media/image21.sv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pp.supademo.com/demo/cmangb0e503j0664u2yucsgti" TargetMode="External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2902986" y="0"/>
            <a:ext cx="17416630" cy="10287000"/>
          </a:xfrm>
          <a:custGeom>
            <a:avLst/>
            <a:gdLst/>
            <a:ahLst/>
            <a:cxnLst/>
            <a:rect l="l" t="t" r="r" b="b"/>
            <a:pathLst>
              <a:path w="17416630" h="10287000">
                <a:moveTo>
                  <a:pt x="0" y="0"/>
                </a:moveTo>
                <a:lnTo>
                  <a:pt x="17416630" y="0"/>
                </a:lnTo>
                <a:lnTo>
                  <a:pt x="174166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 r="-5003"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5569418" y="1814596"/>
            <a:ext cx="10287000" cy="6657808"/>
          </a:xfrm>
          <a:custGeom>
            <a:avLst/>
            <a:gdLst/>
            <a:ahLst/>
            <a:cxnLst/>
            <a:rect l="l" t="t" r="r" b="b"/>
            <a:pathLst>
              <a:path w="10287000" h="6657808">
                <a:moveTo>
                  <a:pt x="0" y="0"/>
                </a:moveTo>
                <a:lnTo>
                  <a:pt x="10287000" y="0"/>
                </a:lnTo>
                <a:lnTo>
                  <a:pt x="10287000" y="6657808"/>
                </a:lnTo>
                <a:lnTo>
                  <a:pt x="0" y="6657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</a:blip>
            <a:stretch>
              <a:fillRect l="-7529" r="-7529"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6978529" y="5285143"/>
            <a:ext cx="5821959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33896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helping people land their dream job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32491" y="2540758"/>
            <a:ext cx="7749720" cy="282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34"/>
              </a:lnSpc>
              <a:spcBef>
                <a:spcPct val="0"/>
              </a:spcBef>
            </a:pPr>
            <a:r>
              <a:rPr lang="en-US" sz="16453" b="1">
                <a:solidFill>
                  <a:srgbClr val="133896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LANDED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23353" y="7918287"/>
            <a:ext cx="6567997" cy="653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7"/>
              </a:lnSpc>
              <a:spcBef>
                <a:spcPct val="0"/>
              </a:spcBef>
            </a:pPr>
            <a:r>
              <a:rPr lang="en-US" sz="3848">
                <a:solidFill>
                  <a:srgbClr val="35352D"/>
                </a:solidFill>
                <a:latin typeface="TT Octosquares Condensed"/>
                <a:ea typeface="TT Octosquares Condensed"/>
                <a:cs typeface="TT Octosquares Condensed"/>
                <a:sym typeface="TT Octosquares Condensed"/>
              </a:rPr>
              <a:t>By: Ricky Isheja, Jumin Shrestha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3612095" y="-774064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5090254" y="1584651"/>
            <a:ext cx="10287000" cy="7117698"/>
          </a:xfrm>
          <a:custGeom>
            <a:avLst/>
            <a:gdLst/>
            <a:ahLst/>
            <a:cxnLst/>
            <a:rect l="l" t="t" r="r" b="b"/>
            <a:pathLst>
              <a:path w="10287000" h="7117698">
                <a:moveTo>
                  <a:pt x="0" y="0"/>
                </a:moveTo>
                <a:lnTo>
                  <a:pt x="10287000" y="0"/>
                </a:lnTo>
                <a:lnTo>
                  <a:pt x="10287000" y="7117698"/>
                </a:lnTo>
                <a:lnTo>
                  <a:pt x="0" y="7117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</a:blip>
            <a:stretch>
              <a:fillRect l="-11503" r="-11503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366746" y="2979620"/>
            <a:ext cx="3003302" cy="5932448"/>
          </a:xfrm>
          <a:custGeom>
            <a:avLst/>
            <a:gdLst/>
            <a:ahLst/>
            <a:cxnLst/>
            <a:rect l="l" t="t" r="r" b="b"/>
            <a:pathLst>
              <a:path w="3003302" h="5932448">
                <a:moveTo>
                  <a:pt x="0" y="0"/>
                </a:moveTo>
                <a:lnTo>
                  <a:pt x="3003302" y="0"/>
                </a:lnTo>
                <a:lnTo>
                  <a:pt x="3003302" y="5932448"/>
                </a:lnTo>
                <a:lnTo>
                  <a:pt x="0" y="59324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7365632" y="7069894"/>
            <a:ext cx="5543350" cy="2932845"/>
            <a:chOff x="0" y="0"/>
            <a:chExt cx="7391133" cy="3910460"/>
          </a:xfrm>
        </p:grpSpPr>
        <p:grpSp>
          <p:nvGrpSpPr>
            <p:cNvPr id="6" name="Group 6"/>
            <p:cNvGrpSpPr/>
            <p:nvPr/>
          </p:nvGrpSpPr>
          <p:grpSpPr>
            <a:xfrm>
              <a:off x="2371157" y="3739274"/>
              <a:ext cx="5019976" cy="171185"/>
              <a:chOff x="0" y="0"/>
              <a:chExt cx="991600" cy="3381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91600" cy="33814"/>
              </a:xfrm>
              <a:custGeom>
                <a:avLst/>
                <a:gdLst/>
                <a:ahLst/>
                <a:cxnLst/>
                <a:rect l="l" t="t" r="r" b="b"/>
                <a:pathLst>
                  <a:path w="991600" h="33814">
                    <a:moveTo>
                      <a:pt x="0" y="0"/>
                    </a:moveTo>
                    <a:lnTo>
                      <a:pt x="991600" y="0"/>
                    </a:lnTo>
                    <a:lnTo>
                      <a:pt x="991600" y="33814"/>
                    </a:lnTo>
                    <a:lnTo>
                      <a:pt x="0" y="33814"/>
                    </a:lnTo>
                    <a:close/>
                  </a:path>
                </a:pathLst>
              </a:custGeom>
              <a:solidFill>
                <a:srgbClr val="133896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57150"/>
                <a:ext cx="991600" cy="909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 rot="1122115">
              <a:off x="237016" y="595386"/>
              <a:ext cx="4067416" cy="2148150"/>
            </a:xfrm>
            <a:custGeom>
              <a:avLst/>
              <a:gdLst/>
              <a:ahLst/>
              <a:cxnLst/>
              <a:rect l="l" t="t" r="r" b="b"/>
              <a:pathLst>
                <a:path w="4067416" h="2148150">
                  <a:moveTo>
                    <a:pt x="0" y="0"/>
                  </a:moveTo>
                  <a:lnTo>
                    <a:pt x="4067416" y="0"/>
                  </a:lnTo>
                  <a:lnTo>
                    <a:pt x="4067416" y="2148150"/>
                  </a:lnTo>
                  <a:lnTo>
                    <a:pt x="0" y="214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556877" y="828675"/>
            <a:ext cx="9304263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35352D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PRODUCT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53570" y="3879887"/>
            <a:ext cx="12636297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Landed is a web application designed to simplify as well as supercharge the job application process at the same time using the power of AI.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53570" y="5588438"/>
            <a:ext cx="12636297" cy="148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It serves as a one-stop solution when applying for jobs, from tailoring or creating  resumes and coverletters to practicing interview questions. Landed is a tool that will help anyone in the job application stage </a:t>
            </a:r>
            <a:r>
              <a:rPr lang="en-US" sz="2799" b="1">
                <a:solidFill>
                  <a:srgbClr val="35352D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land</a:t>
            </a:r>
            <a:r>
              <a:rPr lang="en-US" sz="2799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 their dream job.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 flipV="1">
            <a:off x="-3486267" y="3486267"/>
            <a:ext cx="10287000" cy="3314466"/>
          </a:xfrm>
          <a:custGeom>
            <a:avLst/>
            <a:gdLst/>
            <a:ahLst/>
            <a:cxnLst/>
            <a:rect l="l" t="t" r="r" b="b"/>
            <a:pathLst>
              <a:path w="10287000" h="3314466">
                <a:moveTo>
                  <a:pt x="10287000" y="3314466"/>
                </a:moveTo>
                <a:lnTo>
                  <a:pt x="0" y="3314466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3314466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 t="-26137" b="-48443"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4698366" y="844992"/>
            <a:ext cx="1682388" cy="1907863"/>
          </a:xfrm>
          <a:custGeom>
            <a:avLst/>
            <a:gdLst/>
            <a:ahLst/>
            <a:cxnLst/>
            <a:rect l="l" t="t" r="r" b="b"/>
            <a:pathLst>
              <a:path w="1682388" h="1907863">
                <a:moveTo>
                  <a:pt x="0" y="0"/>
                </a:moveTo>
                <a:lnTo>
                  <a:pt x="1682389" y="0"/>
                </a:lnTo>
                <a:lnTo>
                  <a:pt x="1682389" y="1907863"/>
                </a:lnTo>
                <a:lnTo>
                  <a:pt x="0" y="19078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4228955" y="828675"/>
            <a:ext cx="9304263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35352D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WHY LANDED?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228955" y="3505200"/>
            <a:ext cx="13030345" cy="586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Applying for a job is a full time job itself and we wanted to help fellow applicants in making this journey easier. 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35352D"/>
              </a:solidFill>
              <a:latin typeface="TT Supermolot Neue"/>
              <a:ea typeface="TT Supermolot Neue"/>
              <a:cs typeface="TT Supermolot Neue"/>
              <a:sym typeface="TT Supermolot Neue"/>
            </a:endParaR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We ourselves have applied to hundreds of jobs and know how tedious the process is, we wanted to create a versatile tool that would not only help people in every step of the job application process but also get them the most optimized responses for their application.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35352D"/>
              </a:solidFill>
              <a:latin typeface="TT Supermolot Neue"/>
              <a:ea typeface="TT Supermolot Neue"/>
              <a:cs typeface="TT Supermolot Neue"/>
              <a:sym typeface="TT Supermolot Neue"/>
            </a:endParaRP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Since most applications gets scanned by AI itself, we wanted to use AI to make sure the application stands out!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5352D"/>
              </a:solidFill>
              <a:latin typeface="TT Supermolot Neue"/>
              <a:ea typeface="TT Supermolot Neue"/>
              <a:cs typeface="TT Supermolot Neue"/>
              <a:sym typeface="TT Supermolot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64133" y="489809"/>
            <a:ext cx="13278754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35352D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OUR AIM</a:t>
            </a:r>
          </a:p>
        </p:txBody>
      </p:sp>
      <p:sp>
        <p:nvSpPr>
          <p:cNvPr id="3" name="Freeform 3"/>
          <p:cNvSpPr/>
          <p:nvPr/>
        </p:nvSpPr>
        <p:spPr>
          <a:xfrm rot="-7157179" flipV="1">
            <a:off x="-2083117" y="-3698238"/>
            <a:ext cx="6223635" cy="8229600"/>
          </a:xfrm>
          <a:custGeom>
            <a:avLst/>
            <a:gdLst/>
            <a:ahLst/>
            <a:cxnLst/>
            <a:rect l="l" t="t" r="r" b="b"/>
            <a:pathLst>
              <a:path w="6223635" h="8229600">
                <a:moveTo>
                  <a:pt x="0" y="8229600"/>
                </a:moveTo>
                <a:lnTo>
                  <a:pt x="6223634" y="8229600"/>
                </a:lnTo>
                <a:lnTo>
                  <a:pt x="6223634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7157179" flipH="1">
            <a:off x="14147482" y="5755638"/>
            <a:ext cx="6223635" cy="8229600"/>
          </a:xfrm>
          <a:custGeom>
            <a:avLst/>
            <a:gdLst/>
            <a:ahLst/>
            <a:cxnLst/>
            <a:rect l="l" t="t" r="r" b="b"/>
            <a:pathLst>
              <a:path w="6223635" h="8229600">
                <a:moveTo>
                  <a:pt x="6223636" y="0"/>
                </a:moveTo>
                <a:lnTo>
                  <a:pt x="0" y="0"/>
                </a:lnTo>
                <a:lnTo>
                  <a:pt x="0" y="8229600"/>
                </a:lnTo>
                <a:lnTo>
                  <a:pt x="6223636" y="8229600"/>
                </a:lnTo>
                <a:lnTo>
                  <a:pt x="6223636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V="1">
            <a:off x="5093116" y="4257907"/>
            <a:ext cx="0" cy="4013950"/>
          </a:xfrm>
          <a:prstGeom prst="line">
            <a:avLst/>
          </a:prstGeom>
          <a:ln w="57150" cap="flat">
            <a:solidFill>
              <a:srgbClr val="F8BE7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4778141" y="3838377"/>
            <a:ext cx="668050" cy="668050"/>
          </a:xfrm>
          <a:custGeom>
            <a:avLst/>
            <a:gdLst/>
            <a:ahLst/>
            <a:cxnLst/>
            <a:rect l="l" t="t" r="r" b="b"/>
            <a:pathLst>
              <a:path w="668050" h="668050">
                <a:moveTo>
                  <a:pt x="0" y="0"/>
                </a:moveTo>
                <a:lnTo>
                  <a:pt x="668049" y="0"/>
                </a:lnTo>
                <a:lnTo>
                  <a:pt x="668049" y="668050"/>
                </a:lnTo>
                <a:lnTo>
                  <a:pt x="0" y="668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805902" y="3863657"/>
            <a:ext cx="4942896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Automate Repetitive tasks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85962" y="2631840"/>
            <a:ext cx="786283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B0C885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LANDED WILL HELP 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05902" y="5327013"/>
            <a:ext cx="8650430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Customize responses for specific positions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05902" y="6880888"/>
            <a:ext cx="8839430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Prepare every step in the application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4778141" y="5393688"/>
            <a:ext cx="668050" cy="668050"/>
          </a:xfrm>
          <a:custGeom>
            <a:avLst/>
            <a:gdLst/>
            <a:ahLst/>
            <a:cxnLst/>
            <a:rect l="l" t="t" r="r" b="b"/>
            <a:pathLst>
              <a:path w="668050" h="668050">
                <a:moveTo>
                  <a:pt x="0" y="0"/>
                </a:moveTo>
                <a:lnTo>
                  <a:pt x="668049" y="0"/>
                </a:lnTo>
                <a:lnTo>
                  <a:pt x="668049" y="668050"/>
                </a:lnTo>
                <a:lnTo>
                  <a:pt x="0" y="668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778141" y="6947563"/>
            <a:ext cx="668050" cy="668050"/>
          </a:xfrm>
          <a:custGeom>
            <a:avLst/>
            <a:gdLst/>
            <a:ahLst/>
            <a:cxnLst/>
            <a:rect l="l" t="t" r="r" b="b"/>
            <a:pathLst>
              <a:path w="668050" h="668050">
                <a:moveTo>
                  <a:pt x="0" y="0"/>
                </a:moveTo>
                <a:lnTo>
                  <a:pt x="668049" y="0"/>
                </a:lnTo>
                <a:lnTo>
                  <a:pt x="668049" y="668050"/>
                </a:lnTo>
                <a:lnTo>
                  <a:pt x="0" y="668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759091" y="8478644"/>
            <a:ext cx="668050" cy="668050"/>
          </a:xfrm>
          <a:custGeom>
            <a:avLst/>
            <a:gdLst/>
            <a:ahLst/>
            <a:cxnLst/>
            <a:rect l="l" t="t" r="r" b="b"/>
            <a:pathLst>
              <a:path w="668050" h="668050">
                <a:moveTo>
                  <a:pt x="0" y="0"/>
                </a:moveTo>
                <a:lnTo>
                  <a:pt x="668049" y="0"/>
                </a:lnTo>
                <a:lnTo>
                  <a:pt x="668049" y="668050"/>
                </a:lnTo>
                <a:lnTo>
                  <a:pt x="0" y="668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805902" y="8599324"/>
            <a:ext cx="8839430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ATS friendly optimized application</a:t>
            </a:r>
          </a:p>
        </p:txBody>
      </p:sp>
      <p:sp>
        <p:nvSpPr>
          <p:cNvPr id="15" name="Freeform 15"/>
          <p:cNvSpPr/>
          <p:nvPr/>
        </p:nvSpPr>
        <p:spPr>
          <a:xfrm>
            <a:off x="14645332" y="1629949"/>
            <a:ext cx="1744676" cy="2137131"/>
          </a:xfrm>
          <a:custGeom>
            <a:avLst/>
            <a:gdLst/>
            <a:ahLst/>
            <a:cxnLst/>
            <a:rect l="l" t="t" r="r" b="b"/>
            <a:pathLst>
              <a:path w="1744676" h="2137131">
                <a:moveTo>
                  <a:pt x="0" y="0"/>
                </a:moveTo>
                <a:lnTo>
                  <a:pt x="1744676" y="0"/>
                </a:lnTo>
                <a:lnTo>
                  <a:pt x="1744676" y="2137131"/>
                </a:lnTo>
                <a:lnTo>
                  <a:pt x="0" y="21371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V="1">
            <a:off x="0" y="-719055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28675"/>
            <a:ext cx="9784937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35352D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KEY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847030"/>
            <a:ext cx="15436672" cy="5053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8189" lvl="1" indent="-344095" algn="just">
              <a:lnSpc>
                <a:spcPts val="4462"/>
              </a:lnSpc>
              <a:buFont typeface="Arial"/>
              <a:buChar char="•"/>
            </a:pPr>
            <a:r>
              <a:rPr lang="en-US" sz="3187" b="1">
                <a:solidFill>
                  <a:srgbClr val="B0C885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COVER LETTER GENERATOR: </a:t>
            </a:r>
          </a:p>
          <a:p>
            <a:pPr algn="just">
              <a:lnSpc>
                <a:spcPts val="4462"/>
              </a:lnSpc>
            </a:pPr>
            <a:r>
              <a:rPr lang="en-US" sz="3187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       Personalized cover letters based on your resume and job descriptions</a:t>
            </a:r>
          </a:p>
          <a:p>
            <a:pPr marL="688189" lvl="1" indent="-344095" algn="just">
              <a:lnSpc>
                <a:spcPts val="4462"/>
              </a:lnSpc>
              <a:buFont typeface="Arial"/>
              <a:buChar char="•"/>
            </a:pPr>
            <a:r>
              <a:rPr lang="en-US" sz="3187" b="1">
                <a:solidFill>
                  <a:srgbClr val="B0C885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RESUME TAILORING: </a:t>
            </a:r>
          </a:p>
          <a:p>
            <a:pPr algn="just">
              <a:lnSpc>
                <a:spcPts val="4462"/>
              </a:lnSpc>
            </a:pPr>
            <a:r>
              <a:rPr lang="en-US" sz="3187" b="1">
                <a:solidFill>
                  <a:srgbClr val="35352D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      </a:t>
            </a:r>
            <a:r>
              <a:rPr lang="en-US" sz="3187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Create ATS friendly resume for specific job descriptions </a:t>
            </a:r>
          </a:p>
          <a:p>
            <a:pPr marL="688189" lvl="1" indent="-344095" algn="just">
              <a:lnSpc>
                <a:spcPts val="4462"/>
              </a:lnSpc>
              <a:buFont typeface="Arial"/>
              <a:buChar char="•"/>
            </a:pPr>
            <a:r>
              <a:rPr lang="en-US" sz="3187" b="1">
                <a:solidFill>
                  <a:srgbClr val="B0C885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SKILLS ANALYSIS: </a:t>
            </a:r>
          </a:p>
          <a:p>
            <a:pPr algn="just">
              <a:lnSpc>
                <a:spcPts val="4462"/>
              </a:lnSpc>
            </a:pPr>
            <a:r>
              <a:rPr lang="en-US" sz="3187" b="1">
                <a:solidFill>
                  <a:srgbClr val="35352D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      </a:t>
            </a:r>
            <a:r>
              <a:rPr lang="en-US" sz="3187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Identify missing skills and recommendations for improvement</a:t>
            </a:r>
          </a:p>
          <a:p>
            <a:pPr marL="688189" lvl="1" indent="-344095" algn="just">
              <a:lnSpc>
                <a:spcPts val="4462"/>
              </a:lnSpc>
              <a:buFont typeface="Arial"/>
              <a:buChar char="•"/>
            </a:pPr>
            <a:r>
              <a:rPr lang="en-US" sz="3187" b="1">
                <a:solidFill>
                  <a:srgbClr val="B0C885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DOCUMENT MANAGEMENT:</a:t>
            </a:r>
            <a:r>
              <a:rPr lang="en-US" sz="3187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 </a:t>
            </a:r>
          </a:p>
          <a:p>
            <a:pPr algn="just">
              <a:lnSpc>
                <a:spcPts val="4462"/>
              </a:lnSpc>
            </a:pPr>
            <a:r>
              <a:rPr lang="en-US" sz="3187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       Save, edit, and download your tailored documents</a:t>
            </a:r>
          </a:p>
          <a:p>
            <a:pPr algn="just">
              <a:lnSpc>
                <a:spcPts val="4462"/>
              </a:lnSpc>
              <a:spcBef>
                <a:spcPct val="0"/>
              </a:spcBef>
            </a:pPr>
            <a:endParaRPr lang="en-US" sz="3187">
              <a:solidFill>
                <a:srgbClr val="35352D"/>
              </a:solidFill>
              <a:latin typeface="TT Supermolot Neue"/>
              <a:ea typeface="TT Supermolot Neue"/>
              <a:cs typeface="TT Supermolot Neue"/>
              <a:sym typeface="TT Supermolot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64133" y="489809"/>
            <a:ext cx="13278754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35352D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TECH STACK</a:t>
            </a:r>
          </a:p>
        </p:txBody>
      </p:sp>
      <p:sp>
        <p:nvSpPr>
          <p:cNvPr id="3" name="Freeform 3"/>
          <p:cNvSpPr/>
          <p:nvPr/>
        </p:nvSpPr>
        <p:spPr>
          <a:xfrm rot="9457169" flipV="1">
            <a:off x="-2668957" y="5143500"/>
            <a:ext cx="6223635" cy="8229600"/>
          </a:xfrm>
          <a:custGeom>
            <a:avLst/>
            <a:gdLst/>
            <a:ahLst/>
            <a:cxnLst/>
            <a:rect l="l" t="t" r="r" b="b"/>
            <a:pathLst>
              <a:path w="6223635" h="8229600">
                <a:moveTo>
                  <a:pt x="0" y="8229600"/>
                </a:moveTo>
                <a:lnTo>
                  <a:pt x="6223635" y="8229600"/>
                </a:lnTo>
                <a:lnTo>
                  <a:pt x="6223635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8450834" flipH="1">
            <a:off x="14147483" y="-3176123"/>
            <a:ext cx="6223635" cy="8229600"/>
          </a:xfrm>
          <a:custGeom>
            <a:avLst/>
            <a:gdLst/>
            <a:ahLst/>
            <a:cxnLst/>
            <a:rect l="l" t="t" r="r" b="b"/>
            <a:pathLst>
              <a:path w="6223635" h="8229600">
                <a:moveTo>
                  <a:pt x="6223635" y="0"/>
                </a:moveTo>
                <a:lnTo>
                  <a:pt x="0" y="0"/>
                </a:lnTo>
                <a:lnTo>
                  <a:pt x="0" y="8229600"/>
                </a:lnTo>
                <a:lnTo>
                  <a:pt x="6223635" y="8229600"/>
                </a:lnTo>
                <a:lnTo>
                  <a:pt x="622363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452895" y="3197343"/>
            <a:ext cx="1240406" cy="1071260"/>
          </a:xfrm>
          <a:custGeom>
            <a:avLst/>
            <a:gdLst/>
            <a:ahLst/>
            <a:cxnLst/>
            <a:rect l="l" t="t" r="r" b="b"/>
            <a:pathLst>
              <a:path w="1240406" h="1071260">
                <a:moveTo>
                  <a:pt x="0" y="0"/>
                </a:moveTo>
                <a:lnTo>
                  <a:pt x="1240406" y="0"/>
                </a:lnTo>
                <a:lnTo>
                  <a:pt x="1240406" y="1071259"/>
                </a:lnTo>
                <a:lnTo>
                  <a:pt x="0" y="10712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700000">
            <a:off x="3396290" y="7924981"/>
            <a:ext cx="1353615" cy="1363532"/>
          </a:xfrm>
          <a:custGeom>
            <a:avLst/>
            <a:gdLst/>
            <a:ahLst/>
            <a:cxnLst/>
            <a:rect l="l" t="t" r="r" b="b"/>
            <a:pathLst>
              <a:path w="1353615" h="1363532">
                <a:moveTo>
                  <a:pt x="0" y="0"/>
                </a:moveTo>
                <a:lnTo>
                  <a:pt x="1353616" y="0"/>
                </a:lnTo>
                <a:lnTo>
                  <a:pt x="1353616" y="1363532"/>
                </a:lnTo>
                <a:lnTo>
                  <a:pt x="0" y="13635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452895" y="5486306"/>
            <a:ext cx="1282830" cy="1216053"/>
          </a:xfrm>
          <a:custGeom>
            <a:avLst/>
            <a:gdLst/>
            <a:ahLst/>
            <a:cxnLst/>
            <a:rect l="l" t="t" r="r" b="b"/>
            <a:pathLst>
              <a:path w="1282830" h="1216053">
                <a:moveTo>
                  <a:pt x="0" y="0"/>
                </a:moveTo>
                <a:lnTo>
                  <a:pt x="1282831" y="0"/>
                </a:lnTo>
                <a:lnTo>
                  <a:pt x="1282831" y="1216053"/>
                </a:lnTo>
                <a:lnTo>
                  <a:pt x="0" y="12160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980883" y="1951505"/>
            <a:ext cx="4942896" cy="5043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Frontend: React, Tailwind CSS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Backend: Firebase (Authentication, Firestore, Storage)</a:t>
            </a: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Deployment: Firebase Hosting</a:t>
            </a:r>
          </a:p>
          <a:p>
            <a:pPr algn="just">
              <a:lnSpc>
                <a:spcPts val="4480"/>
              </a:lnSpc>
            </a:pPr>
            <a:endParaRPr lang="en-US" sz="3200">
              <a:solidFill>
                <a:srgbClr val="35352D"/>
              </a:solidFill>
              <a:latin typeface="TT Supermolot Neue"/>
              <a:ea typeface="TT Supermolot Neue"/>
              <a:cs typeface="TT Supermolot Neue"/>
              <a:sym typeface="TT Supermolot Neue"/>
            </a:endParaRPr>
          </a:p>
          <a:p>
            <a:pPr algn="just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35352D"/>
              </a:solidFill>
              <a:latin typeface="TT Supermolot Neue"/>
              <a:ea typeface="TT Supermolot Neue"/>
              <a:cs typeface="TT Supermolot Neue"/>
              <a:sym typeface="TT Supermolot Neu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599796" y="3344593"/>
            <a:ext cx="8262321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B0C885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Frontend</a:t>
            </a:r>
            <a:r>
              <a:rPr lang="en-US" sz="3200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: ReactJS, React Router, Tailwind CSS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13579" y="8059377"/>
            <a:ext cx="9632835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B0C885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Deployment</a:t>
            </a:r>
            <a:r>
              <a:rPr lang="en-US" sz="3200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: Firebase Hosting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99796" y="5701713"/>
            <a:ext cx="10611141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B0C885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Backend</a:t>
            </a:r>
            <a:r>
              <a:rPr lang="en-US" sz="3200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: Firebase (Authentication, Firestore, Storage), Node JS, Express, and Postgresql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 flipV="1">
            <a:off x="-3486267" y="3486267"/>
            <a:ext cx="10287000" cy="3314466"/>
          </a:xfrm>
          <a:custGeom>
            <a:avLst/>
            <a:gdLst/>
            <a:ahLst/>
            <a:cxnLst/>
            <a:rect l="l" t="t" r="r" b="b"/>
            <a:pathLst>
              <a:path w="10287000" h="3314466">
                <a:moveTo>
                  <a:pt x="10287000" y="3314466"/>
                </a:moveTo>
                <a:lnTo>
                  <a:pt x="0" y="3314466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3314466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 t="-26137" b="-48443"/>
            </a:stretch>
          </a:blipFill>
          <a:ln cap="sq">
            <a:noFill/>
            <a:prstDash val="solid"/>
            <a:miter/>
          </a:ln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392" y="893496"/>
            <a:ext cx="7738478" cy="7738478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7209408" y="8038901"/>
            <a:ext cx="5480446" cy="1219399"/>
          </a:xfrm>
          <a:custGeom>
            <a:avLst/>
            <a:gdLst/>
            <a:ahLst/>
            <a:cxnLst/>
            <a:rect l="l" t="t" r="r" b="b"/>
            <a:pathLst>
              <a:path w="5480446" h="1219399">
                <a:moveTo>
                  <a:pt x="0" y="0"/>
                </a:moveTo>
                <a:lnTo>
                  <a:pt x="5480445" y="0"/>
                </a:lnTo>
                <a:lnTo>
                  <a:pt x="5480445" y="1219399"/>
                </a:lnTo>
                <a:lnTo>
                  <a:pt x="0" y="12193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714925" y="376156"/>
            <a:ext cx="10469411" cy="1162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41"/>
              </a:lnSpc>
              <a:spcBef>
                <a:spcPct val="0"/>
              </a:spcBef>
            </a:pPr>
            <a:r>
              <a:rPr lang="en-US" sz="6743" b="1">
                <a:solidFill>
                  <a:srgbClr val="35352D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QR CODE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99928" y="8047307"/>
            <a:ext cx="4099405" cy="100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79"/>
              </a:lnSpc>
            </a:pPr>
            <a:r>
              <a:rPr lang="en-US" sz="5342" b="1" u="sng">
                <a:solidFill>
                  <a:srgbClr val="00A29E"/>
                </a:solidFill>
                <a:latin typeface="Bauer Bodoni Bold"/>
                <a:ea typeface="Bauer Bodoni Bold"/>
                <a:cs typeface="Bauer Bodoni Bold"/>
                <a:sym typeface="Bauer Bodoni Bold"/>
                <a:hlinkClick r:id="rId6" tooltip="https://landed-41df2.web.app"/>
              </a:rPr>
              <a:t>Landed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 flipV="1">
            <a:off x="-3486267" y="3486267"/>
            <a:ext cx="10287000" cy="3314466"/>
          </a:xfrm>
          <a:custGeom>
            <a:avLst/>
            <a:gdLst/>
            <a:ahLst/>
            <a:cxnLst/>
            <a:rect l="l" t="t" r="r" b="b"/>
            <a:pathLst>
              <a:path w="10287000" h="3314466">
                <a:moveTo>
                  <a:pt x="10287000" y="3314466"/>
                </a:moveTo>
                <a:lnTo>
                  <a:pt x="0" y="3314466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3314466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 t="-26137" b="-48443"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6400800" y="4134406"/>
            <a:ext cx="7620000" cy="2018188"/>
          </a:xfrm>
          <a:custGeom>
            <a:avLst/>
            <a:gdLst/>
            <a:ahLst/>
            <a:cxnLst/>
            <a:rect l="l" t="t" r="r" b="b"/>
            <a:pathLst>
              <a:path w="5480446" h="1219399">
                <a:moveTo>
                  <a:pt x="0" y="0"/>
                </a:moveTo>
                <a:lnTo>
                  <a:pt x="5480445" y="0"/>
                </a:lnTo>
                <a:lnTo>
                  <a:pt x="5480445" y="1219400"/>
                </a:lnTo>
                <a:lnTo>
                  <a:pt x="0" y="1219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14925" y="440669"/>
            <a:ext cx="10469411" cy="1162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41"/>
              </a:lnSpc>
              <a:spcBef>
                <a:spcPct val="0"/>
              </a:spcBef>
            </a:pPr>
            <a:r>
              <a:rPr lang="en-US" sz="6743" b="1">
                <a:solidFill>
                  <a:srgbClr val="35352D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DEMO VIDEO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34400" y="4610100"/>
            <a:ext cx="3880164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28"/>
              </a:lnSpc>
            </a:pPr>
            <a:r>
              <a:rPr lang="en-US" sz="4877" b="1" u="sng" dirty="0">
                <a:solidFill>
                  <a:srgbClr val="00A29E"/>
                </a:solidFill>
                <a:latin typeface="Bauer Bodoni Condensed Bold"/>
                <a:ea typeface="Bauer Bodoni Condensed Bold"/>
                <a:cs typeface="Bauer Bodoni Condensed Bold"/>
                <a:sym typeface="Bauer Bodoni Condensed Bold"/>
                <a:hlinkClick r:id="rId5" tooltip="https://app.supademo.com/demo/cmangb0e503j0664u2yucsgti"/>
              </a:rPr>
              <a:t>Demo video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 flipV="1">
            <a:off x="-3486267" y="3486267"/>
            <a:ext cx="10287000" cy="3314466"/>
          </a:xfrm>
          <a:custGeom>
            <a:avLst/>
            <a:gdLst/>
            <a:ahLst/>
            <a:cxnLst/>
            <a:rect l="l" t="t" r="r" b="b"/>
            <a:pathLst>
              <a:path w="10287000" h="3314466">
                <a:moveTo>
                  <a:pt x="10287000" y="3314466"/>
                </a:moveTo>
                <a:lnTo>
                  <a:pt x="0" y="3314466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3314466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 t="-26137" b="-48443"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4228955" y="2730910"/>
            <a:ext cx="11622743" cy="354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7938" lvl="1" indent="-433969" algn="just">
              <a:lnSpc>
                <a:spcPts val="5628"/>
              </a:lnSpc>
              <a:buFont typeface="Arial"/>
              <a:buChar char="•"/>
            </a:pPr>
            <a:r>
              <a:rPr lang="en-US" sz="4020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Finding a better Job search API</a:t>
            </a:r>
          </a:p>
          <a:p>
            <a:pPr marL="867938" lvl="1" indent="-433969" algn="just">
              <a:lnSpc>
                <a:spcPts val="5628"/>
              </a:lnSpc>
              <a:buFont typeface="Arial"/>
              <a:buChar char="•"/>
            </a:pPr>
            <a:r>
              <a:rPr lang="en-US" sz="4020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Creating a Portal for Companies hiring</a:t>
            </a:r>
          </a:p>
          <a:p>
            <a:pPr marL="867938" lvl="1" indent="-433969" algn="just">
              <a:lnSpc>
                <a:spcPts val="5628"/>
              </a:lnSpc>
              <a:buFont typeface="Arial"/>
              <a:buChar char="•"/>
            </a:pPr>
            <a:r>
              <a:rPr lang="en-US" sz="4020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Migrating from firebase</a:t>
            </a:r>
          </a:p>
          <a:p>
            <a:pPr algn="just">
              <a:lnSpc>
                <a:spcPts val="5628"/>
              </a:lnSpc>
            </a:pPr>
            <a:endParaRPr lang="en-US" sz="4020">
              <a:solidFill>
                <a:srgbClr val="35352D"/>
              </a:solidFill>
              <a:latin typeface="TT Supermolot Neue"/>
              <a:ea typeface="TT Supermolot Neue"/>
              <a:cs typeface="TT Supermolot Neue"/>
              <a:sym typeface="TT Supermolot Neue"/>
            </a:endParaRPr>
          </a:p>
          <a:p>
            <a:pPr algn="just">
              <a:lnSpc>
                <a:spcPts val="5628"/>
              </a:lnSpc>
            </a:pPr>
            <a:endParaRPr lang="en-US" sz="4020">
              <a:solidFill>
                <a:srgbClr val="35352D"/>
              </a:solidFill>
              <a:latin typeface="TT Supermolot Neue"/>
              <a:ea typeface="TT Supermolot Neue"/>
              <a:cs typeface="TT Supermolot Neue"/>
              <a:sym typeface="TT Supermolot Neue"/>
            </a:endParaRPr>
          </a:p>
        </p:txBody>
      </p:sp>
      <p:sp>
        <p:nvSpPr>
          <p:cNvPr id="4" name="Freeform 4"/>
          <p:cNvSpPr/>
          <p:nvPr/>
        </p:nvSpPr>
        <p:spPr>
          <a:xfrm flipH="1">
            <a:off x="14898798" y="917954"/>
            <a:ext cx="1905800" cy="1645918"/>
          </a:xfrm>
          <a:custGeom>
            <a:avLst/>
            <a:gdLst/>
            <a:ahLst/>
            <a:cxnLst/>
            <a:rect l="l" t="t" r="r" b="b"/>
            <a:pathLst>
              <a:path w="1905800" h="1645918">
                <a:moveTo>
                  <a:pt x="1905800" y="0"/>
                </a:moveTo>
                <a:lnTo>
                  <a:pt x="0" y="0"/>
                </a:lnTo>
                <a:lnTo>
                  <a:pt x="0" y="1645918"/>
                </a:lnTo>
                <a:lnTo>
                  <a:pt x="1905800" y="1645918"/>
                </a:lnTo>
                <a:lnTo>
                  <a:pt x="1905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909294" y="1086314"/>
            <a:ext cx="10469411" cy="1166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41"/>
              </a:lnSpc>
              <a:spcBef>
                <a:spcPct val="0"/>
              </a:spcBef>
            </a:pPr>
            <a:r>
              <a:rPr lang="en-US" sz="6743" b="1">
                <a:solidFill>
                  <a:srgbClr val="35352D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FUTURE ENHANCEMENTS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 flipV="1">
            <a:off x="-3486267" y="3486267"/>
            <a:ext cx="10287000" cy="3314466"/>
          </a:xfrm>
          <a:custGeom>
            <a:avLst/>
            <a:gdLst/>
            <a:ahLst/>
            <a:cxnLst/>
            <a:rect l="l" t="t" r="r" b="b"/>
            <a:pathLst>
              <a:path w="10287000" h="3314466">
                <a:moveTo>
                  <a:pt x="10287000" y="3314466"/>
                </a:moveTo>
                <a:lnTo>
                  <a:pt x="0" y="3314466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3314466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 t="-26137" b="-48443"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3909294" y="2616653"/>
            <a:ext cx="11622743" cy="4977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7938" lvl="1" indent="-433969" algn="just">
              <a:lnSpc>
                <a:spcPts val="5628"/>
              </a:lnSpc>
              <a:buFont typeface="Arial"/>
              <a:buChar char="•"/>
            </a:pPr>
            <a:r>
              <a:rPr lang="en-US" sz="4020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System design comes before implementing code</a:t>
            </a:r>
          </a:p>
          <a:p>
            <a:pPr marL="867938" lvl="1" indent="-433969" algn="just">
              <a:lnSpc>
                <a:spcPts val="5628"/>
              </a:lnSpc>
              <a:buFont typeface="Arial"/>
              <a:buChar char="•"/>
            </a:pPr>
            <a:r>
              <a:rPr lang="en-US" sz="4020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Commit often</a:t>
            </a:r>
          </a:p>
          <a:p>
            <a:pPr marL="867938" lvl="1" indent="-433969" algn="just">
              <a:lnSpc>
                <a:spcPts val="5628"/>
              </a:lnSpc>
              <a:buFont typeface="Arial"/>
              <a:buChar char="•"/>
            </a:pPr>
            <a:r>
              <a:rPr lang="en-US" sz="4020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With teams, there must be a separation of tasks to avoid Git conflicts</a:t>
            </a:r>
          </a:p>
          <a:p>
            <a:pPr marL="867938" lvl="1" indent="-433969" algn="just">
              <a:lnSpc>
                <a:spcPts val="5628"/>
              </a:lnSpc>
              <a:buFont typeface="Arial"/>
              <a:buChar char="•"/>
            </a:pPr>
            <a:r>
              <a:rPr lang="en-US" sz="4020">
                <a:solidFill>
                  <a:srgbClr val="35352D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Research on tools before applying them</a:t>
            </a:r>
          </a:p>
          <a:p>
            <a:pPr algn="just">
              <a:lnSpc>
                <a:spcPts val="5628"/>
              </a:lnSpc>
            </a:pPr>
            <a:endParaRPr lang="en-US" sz="4020">
              <a:solidFill>
                <a:srgbClr val="35352D"/>
              </a:solidFill>
              <a:latin typeface="TT Supermolot Neue"/>
              <a:ea typeface="TT Supermolot Neue"/>
              <a:cs typeface="TT Supermolot Neue"/>
              <a:sym typeface="TT Supermolot Neue"/>
            </a:endParaRPr>
          </a:p>
          <a:p>
            <a:pPr algn="just">
              <a:lnSpc>
                <a:spcPts val="5628"/>
              </a:lnSpc>
            </a:pPr>
            <a:endParaRPr lang="en-US" sz="4020">
              <a:solidFill>
                <a:srgbClr val="35352D"/>
              </a:solidFill>
              <a:latin typeface="TT Supermolot Neue"/>
              <a:ea typeface="TT Supermolot Neue"/>
              <a:cs typeface="TT Supermolot Neue"/>
              <a:sym typeface="TT Supermolot Neue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909294" y="1086314"/>
            <a:ext cx="10469411" cy="1166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41"/>
              </a:lnSpc>
              <a:spcBef>
                <a:spcPct val="0"/>
              </a:spcBef>
            </a:pPr>
            <a:r>
              <a:rPr lang="en-US" sz="6743" b="1">
                <a:solidFill>
                  <a:srgbClr val="35352D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LESSONS LEARNT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12723252" y="2250281"/>
            <a:ext cx="10287000" cy="5786438"/>
          </a:xfrm>
          <a:custGeom>
            <a:avLst/>
            <a:gdLst/>
            <a:ahLst/>
            <a:cxnLst/>
            <a:rect l="l" t="t" r="r" b="b"/>
            <a:pathLst>
              <a:path w="10287000" h="5786438">
                <a:moveTo>
                  <a:pt x="10287000" y="0"/>
                </a:moveTo>
                <a:lnTo>
                  <a:pt x="0" y="0"/>
                </a:lnTo>
                <a:lnTo>
                  <a:pt x="0" y="5786438"/>
                </a:lnTo>
                <a:lnTo>
                  <a:pt x="10287000" y="5786438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V="1">
            <a:off x="0" y="8422613"/>
            <a:ext cx="14973534" cy="8422613"/>
          </a:xfrm>
          <a:custGeom>
            <a:avLst/>
            <a:gdLst/>
            <a:ahLst/>
            <a:cxnLst/>
            <a:rect l="l" t="t" r="r" b="b"/>
            <a:pathLst>
              <a:path w="14973534" h="8422613">
                <a:moveTo>
                  <a:pt x="0" y="8422612"/>
                </a:moveTo>
                <a:lnTo>
                  <a:pt x="14973534" y="8422612"/>
                </a:lnTo>
                <a:lnTo>
                  <a:pt x="14973534" y="0"/>
                </a:lnTo>
                <a:lnTo>
                  <a:pt x="0" y="0"/>
                </a:lnTo>
                <a:lnTo>
                  <a:pt x="0" y="8422612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10800000" flipH="1">
            <a:off x="0" y="0"/>
            <a:ext cx="14973534" cy="8422613"/>
          </a:xfrm>
          <a:custGeom>
            <a:avLst/>
            <a:gdLst/>
            <a:ahLst/>
            <a:cxnLst/>
            <a:rect l="l" t="t" r="r" b="b"/>
            <a:pathLst>
              <a:path w="14973534" h="8422613">
                <a:moveTo>
                  <a:pt x="14973534" y="0"/>
                </a:moveTo>
                <a:lnTo>
                  <a:pt x="0" y="0"/>
                </a:lnTo>
                <a:lnTo>
                  <a:pt x="0" y="8422613"/>
                </a:lnTo>
                <a:lnTo>
                  <a:pt x="14973534" y="8422613"/>
                </a:lnTo>
                <a:lnTo>
                  <a:pt x="14973534" y="0"/>
                </a:lnTo>
                <a:close/>
              </a:path>
            </a:pathLst>
          </a:custGeom>
          <a:blipFill>
            <a:blip r:embed="rId3">
              <a:alphaModFix amt="59000"/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3576075"/>
            <a:ext cx="13244195" cy="2820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4"/>
              </a:lnSpc>
              <a:spcBef>
                <a:spcPct val="0"/>
              </a:spcBef>
            </a:pPr>
            <a:r>
              <a:rPr lang="en-US" sz="16453" b="1">
                <a:solidFill>
                  <a:srgbClr val="35352D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</Words>
  <Application>Microsoft Office PowerPoint</Application>
  <PresentationFormat>Custom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Calibri</vt:lpstr>
      <vt:lpstr>TT Octosquares Condensed</vt:lpstr>
      <vt:lpstr>Bauer Bodoni Condensed Bold</vt:lpstr>
      <vt:lpstr>TT Supermolot Neue</vt:lpstr>
      <vt:lpstr>Arial</vt:lpstr>
      <vt:lpstr>Bauer Bodoni Bold</vt:lpstr>
      <vt:lpstr>TT Supermolot Neue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Landed</dc:title>
  <cp:lastModifiedBy>isheja ricky junior</cp:lastModifiedBy>
  <cp:revision>2</cp:revision>
  <dcterms:created xsi:type="dcterms:W3CDTF">2006-08-16T00:00:00Z</dcterms:created>
  <dcterms:modified xsi:type="dcterms:W3CDTF">2025-05-14T05:36:24Z</dcterms:modified>
  <dc:identifier>DAGnXB-H6PY</dc:identifier>
</cp:coreProperties>
</file>